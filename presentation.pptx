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497773-8D17-BF09-843D-52B29973527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F2D3D"/>
              </a:gs>
              <a:gs pos="100000">
                <a:srgbClr val="256EA3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15976335-7F7F-D481-8951-C3FE41DBE4B0}"/>
              </a:ext>
            </a:extLst>
          </p:cNvPr>
          <p:cNvSpPr/>
          <p:nvPr/>
        </p:nvSpPr>
        <p:spPr>
          <a:xfrm>
            <a:off x="-138223" y="760228"/>
            <a:ext cx="9229060" cy="6512442"/>
          </a:xfrm>
          <a:custGeom>
            <a:avLst/>
            <a:gdLst/>
            <a:ahLst/>
            <a:cxnLst/>
            <a:rect l="l" t="t" r="r" b="b"/>
            <a:pathLst>
              <a:path w="10972800" h="8229600">
                <a:moveTo>
                  <a:pt x="0" y="0"/>
                </a:moveTo>
                <a:lnTo>
                  <a:pt x="10972800" y="0"/>
                </a:lnTo>
                <a:lnTo>
                  <a:pt x="10972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A4F5E5-4208-4230-DA24-9CCF66CA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7" y="52981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BE3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"In the name of ALLAH, the Most Gracious, the Most Merciful,"</a:t>
            </a:r>
            <a:br>
              <a:rPr lang="en-US" b="1" dirty="0">
                <a:solidFill>
                  <a:srgbClr val="FBE3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31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F2D3D"/>
              </a:gs>
              <a:gs pos="100000">
                <a:srgbClr val="256EA3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6000" b="1">
                <a:solidFill>
                  <a:srgbClr val="1F2D3D"/>
                </a:solidFill>
              </a:defRPr>
            </a:pPr>
            <a:r>
              <a:t>ORBIT WARS</a:t>
            </a:r>
          </a:p>
          <a:p>
            <a:pPr algn="ctr">
              <a:spcAft>
                <a:spcPts val="600"/>
              </a:spcAft>
              <a:defRPr sz="2400">
                <a:solidFill>
                  <a:srgbClr val="256EA3"/>
                </a:solidFill>
              </a:defRPr>
            </a:pPr>
            <a:r>
              <a:t>Multi-Agent Reinforcement Learning</a:t>
            </a:r>
          </a:p>
          <a:p>
            <a:pPr algn="ctr">
              <a:defRPr sz="1600" i="1">
                <a:solidFill>
                  <a:srgbClr val="34A8A5"/>
                </a:solidFill>
              </a:defRPr>
            </a:pPr>
            <a:r>
              <a:t>Strategic Game Playing with Deep Learning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3600" dirty="0"/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8103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EA3"/>
                </a:solidFill>
              </a:defRPr>
            </a:pPr>
            <a:r>
              <a:rPr sz="1600"/>
              <a:t>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  <a:r>
              <a:rPr sz="1600"/>
              <a:t>Develop intelligent autonomous agents for strategic game playing in continuous 2D environments with resource management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4591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EA3"/>
                </a:solidFill>
              </a:defRPr>
            </a:pPr>
            <a:r>
              <a:rPr sz="1600"/>
              <a:t>Key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  <a:r>
              <a:rPr sz="1600"/>
              <a:t>Integration of classical game-theoretic strategies with modern deep reinforcement learning using policy gradient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12811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EA3"/>
                </a:solidFill>
              </a:defRPr>
            </a:pPr>
            <a:r>
              <a:rPr sz="1600"/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  <a:r>
              <a:rPr sz="1600"/>
              <a:t>Elite agent achieves 100% win rate; RL agent demonstrates progressive learning and adaptation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11561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EA3"/>
                </a:solidFill>
              </a:defRPr>
            </a:pPr>
            <a:r>
              <a:rPr sz="1600"/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  <a:r>
              <a:rPr sz="1600"/>
              <a:t>Framework extensible to broader multi-agent coordination problems in operations research and autonomous systems.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C59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114800" cy="47548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Environment Complexity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• 100×100 continuous board space</a:t>
            </a:r>
            <a:br>
              <a:rPr sz="2000" dirty="0"/>
            </a:br>
            <a:r>
              <a:rPr sz="2000" dirty="0"/>
              <a:t>• Dynamic planetary system (20-40 entities)</a:t>
            </a:r>
            <a:br>
              <a:rPr sz="2000" dirty="0"/>
            </a:br>
            <a:r>
              <a:rPr sz="2000" dirty="0"/>
              <a:t>• Fleet mechanics with logarithmic velocity</a:t>
            </a:r>
            <a:br>
              <a:rPr sz="2000" dirty="0"/>
            </a:br>
            <a:r>
              <a:rPr sz="2000" dirty="0"/>
              <a:t>• Multi-turn strategic planning (500 episodes)</a:t>
            </a:r>
            <a:br>
              <a:rPr sz="2000" dirty="0"/>
            </a:br>
            <a:r>
              <a:rPr sz="2000" dirty="0"/>
              <a:t>• Partial observability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931920" cy="47548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Challenges Addressed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• Combinatorial action space</a:t>
            </a:r>
            <a:br>
              <a:rPr sz="2000" dirty="0"/>
            </a:br>
            <a:r>
              <a:rPr sz="2000" dirty="0"/>
              <a:t>• Non-stationary game dynamics</a:t>
            </a:r>
            <a:br>
              <a:rPr sz="2000" dirty="0"/>
            </a:br>
            <a:r>
              <a:rPr sz="2000" dirty="0"/>
              <a:t>• Resource allocation optimization</a:t>
            </a:r>
            <a:br>
              <a:rPr sz="2000" dirty="0"/>
            </a:br>
            <a:r>
              <a:rPr sz="2000" dirty="0"/>
              <a:t>• Collision avoidance in continuous space</a:t>
            </a:r>
            <a:br>
              <a:rPr sz="2000" dirty="0"/>
            </a:br>
            <a:r>
              <a:rPr sz="2000" dirty="0"/>
              <a:t>• Multi-objective strategy synthesis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GAME MECHANICS &amp;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668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F5F6F8"/>
          </a:solidFill>
          <a:ln w="63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3451"/>
            <a:ext cx="705840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rPr sz="1400" dirty="0"/>
              <a:t>Board Configuration   </a:t>
            </a:r>
            <a:r>
              <a:rPr sz="1400" b="1" dirty="0">
                <a:solidFill>
                  <a:srgbClr val="34A8A5"/>
                </a:solidFill>
              </a:rPr>
              <a:t>100×100 unit continuous 2D space with central sun obstacle (radius 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8412480" cy="411480"/>
          </a:xfrm>
          <a:prstGeom prst="rect">
            <a:avLst/>
          </a:prstGeom>
          <a:solidFill>
            <a:srgbClr val="F5F6F8"/>
          </a:solidFill>
          <a:ln w="63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240279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6410"/>
            <a:ext cx="587859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rPr sz="1400" dirty="0"/>
              <a:t>Planetary Assets   </a:t>
            </a:r>
            <a:r>
              <a:rPr sz="1400" b="1" dirty="0">
                <a:solidFill>
                  <a:srgbClr val="34A8A5"/>
                </a:solidFill>
              </a:rPr>
              <a:t>Each planet: position, ownership, garrison, production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8412480" cy="411480"/>
          </a:xfrm>
          <a:prstGeom prst="rect">
            <a:avLst/>
          </a:prstGeom>
          <a:solidFill>
            <a:srgbClr val="F5F6F8"/>
          </a:solidFill>
          <a:ln w="63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063239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9370"/>
            <a:ext cx="785817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rPr sz="1400" dirty="0"/>
              <a:t>Fleet Operations   </a:t>
            </a:r>
            <a:r>
              <a:rPr sz="1400" b="1" dirty="0">
                <a:solidFill>
                  <a:srgbClr val="34A8A5"/>
                </a:solidFill>
              </a:rPr>
              <a:t>Transport ships between planets with logarithmic speed scaling (distance-dependent</a:t>
            </a:r>
            <a:r>
              <a:rPr b="1" dirty="0">
                <a:solidFill>
                  <a:srgbClr val="34A8A5"/>
                </a:solidFill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solidFill>
            <a:srgbClr val="F5F6F8"/>
          </a:solidFill>
          <a:ln w="63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2331"/>
            <a:ext cx="63359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rPr sz="1400" dirty="0"/>
              <a:t>Victory Condition   </a:t>
            </a:r>
            <a:r>
              <a:rPr sz="1400" b="1" dirty="0">
                <a:solidFill>
                  <a:srgbClr val="34A8A5"/>
                </a:solidFill>
              </a:rPr>
              <a:t>Eliminate all enemy planets or control majority within 500 turns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F5F6F8"/>
          </a:solidFill>
          <a:ln w="63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47091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15291"/>
            <a:ext cx="725089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rPr sz="1400" dirty="0"/>
              <a:t>Strategic Elements   </a:t>
            </a:r>
            <a:r>
              <a:rPr sz="1400" b="1" dirty="0">
                <a:solidFill>
                  <a:srgbClr val="34A8A5"/>
                </a:solidFill>
              </a:rPr>
              <a:t>Production management, fleet routing, threat assessment, territory control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20624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Elite Agent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Three-phase deterministic strategy:</a:t>
            </a:r>
            <a:br/>
            <a:r>
              <a:t>1. Expansion (early game)</a:t>
            </a:r>
            <a:br/>
            <a:r>
              <a:t>2. Aggression (when conditions favorable)</a:t>
            </a:r>
            <a:br/>
            <a:r>
              <a:t>3. Defense (threat mitigation)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02336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Experimental Agent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Threat-based adaptive system:</a:t>
            </a:r>
            <a:br/>
            <a:r>
              <a:t>• Real-time threat assessment</a:t>
            </a:r>
            <a:br/>
            <a:r>
              <a:t>• Dynamic mode switching</a:t>
            </a:r>
            <a:br/>
            <a:r>
              <a:t>• Advanced tactical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393192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RL Agent (PyTorch)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Policy gradient learning:</a:t>
            </a:r>
            <a:br/>
            <a:r>
              <a:t>• REINFORCE algorithm</a:t>
            </a:r>
            <a:br/>
            <a:r>
              <a:t>• Neural network policy</a:t>
            </a:r>
            <a:br/>
            <a:r>
              <a:t>• GPU-accelerated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02336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V2 Agent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Baseline comparison:</a:t>
            </a:r>
            <a:br/>
            <a:r>
              <a:t>• Reference implementation</a:t>
            </a:r>
            <a:br/>
            <a:r>
              <a:t>• Foundation for analysis</a:t>
            </a:r>
            <a:br/>
            <a:r>
              <a:t>• Performance benchmark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"/>
            <a:ext cx="9144000" cy="114757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2800" dirty="0"/>
              <a:t>ELITE AGENT: STRATEGIC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C59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0906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EA3"/>
                </a:solidFill>
              </a:defRPr>
            </a:pPr>
            <a:r>
              <a:rPr sz="1600"/>
              <a:t>→  Phase 1: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46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Objectives: Capture neutral planets, maximize production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Prioritize high-production planets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Avoid early conflict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Build fleet reserves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21525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EA3"/>
                </a:solidFill>
              </a:defRPr>
            </a:pPr>
            <a:r>
              <a:rPr sz="1600"/>
              <a:t>→  Phase 2: Aggression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47853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Objectives: Attack weakened enemies, expand territory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Target isolated fleets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Coordinate multi-planet assault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/>
              <a:t>• Protect supply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23360"/>
            <a:ext cx="19124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EA3"/>
                </a:solidFill>
              </a:defRPr>
            </a:pPr>
            <a:r>
              <a:rPr sz="1600"/>
              <a:t>→  Phase 3: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4251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Objectives: Consolidate gains, respond to threats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1600" dirty="0"/>
              <a:t>• Garrison key planets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 dirty="0"/>
              <a:t>• Scout enemy movements</a:t>
            </a:r>
          </a:p>
          <a:p>
            <a:pPr>
              <a:defRPr sz="900">
                <a:solidFill>
                  <a:srgbClr val="282828"/>
                </a:solidFill>
              </a:defRPr>
            </a:pPr>
            <a:r>
              <a:rPr sz="1600" dirty="0"/>
              <a:t>• Maintain strategic reserves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2800" dirty="0"/>
              <a:t>REINFORCEMENT LEARNING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0328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A8A5"/>
                </a:solidFill>
              </a:defRPr>
            </a:pPr>
            <a:r>
              <a:rPr sz="1600"/>
              <a:t>Policy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280-dimensional state vector encoding planetary positions, ownership, resources, and fleet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18540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A8A5"/>
                </a:solidFill>
              </a:defRPr>
            </a:pPr>
            <a:r>
              <a:rPr sz="1600"/>
              <a:t>Neural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7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3-layer MLP (input→256 hidden units→ReLU→3 action heads) for policy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18161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A8A5"/>
                </a:solidFill>
              </a:defRPr>
            </a:pPr>
            <a:r>
              <a:rPr sz="1600"/>
              <a:t>Learning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REINFORCE policy gradient with baseline advantage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79"/>
            <a:ext cx="12901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A8A5"/>
                </a:solidFill>
              </a:defRPr>
            </a:pPr>
            <a:r>
              <a:rPr sz="1600"/>
              <a:t>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59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1600"/>
              <a:t>Adam optimizer with learning rate 1e-3, training on GPU with Colab integration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PERFORMANCE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C59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668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668B73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282828"/>
                </a:solidFill>
              </a:defRPr>
            </a:pPr>
            <a:r>
              <a:t>Win Rate</a:t>
            </a:r>
            <a:br/>
            <a:r>
              <a:t>(Elite)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645920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34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34A8A5"/>
                </a:solidFill>
              </a:defRPr>
            </a:pPr>
            <a:r>
              <a:t>500</a:t>
            </a:r>
          </a:p>
          <a:p>
            <a:pPr algn="ctr">
              <a:defRPr sz="1100" b="1">
                <a:solidFill>
                  <a:srgbClr val="282828"/>
                </a:solidFill>
              </a:defRPr>
            </a:pPr>
            <a:r>
              <a:t>Avg Turns</a:t>
            </a:r>
            <a:br/>
            <a:r>
              <a:t>(Complete)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59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C59052"/>
                </a:solidFill>
              </a:defRPr>
            </a:pPr>
            <a:r>
              <a:t>256</a:t>
            </a:r>
          </a:p>
          <a:p>
            <a:pPr algn="ctr">
              <a:defRPr sz="1100" b="1">
                <a:solidFill>
                  <a:srgbClr val="282828"/>
                </a:solidFill>
              </a:defRPr>
            </a:pPr>
            <a:r>
              <a:t>Hidden Units</a:t>
            </a:r>
            <a:br/>
            <a:r>
              <a:t>(RL Network)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16459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34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34A8A5"/>
                </a:solidFill>
              </a:defRPr>
            </a:pPr>
            <a:r>
              <a:t>40</a:t>
            </a:r>
          </a:p>
          <a:p>
            <a:pPr algn="ctr">
              <a:defRPr sz="1100" b="1">
                <a:solidFill>
                  <a:srgbClr val="282828"/>
                </a:solidFill>
              </a:defRPr>
            </a:pPr>
            <a:r>
              <a:t>Max Planets</a:t>
            </a:r>
            <a:br/>
            <a:r>
              <a:t>(Per Episode)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8412480" cy="236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EA3"/>
                </a:solidFill>
              </a:defRPr>
            </a:pPr>
            <a:r>
              <a:rPr sz="1400" dirty="0"/>
              <a:t>Agent Comparison</a:t>
            </a:r>
          </a:p>
          <a:p>
            <a:pPr>
              <a:spcAft>
                <a:spcPts val="200"/>
              </a:spcAft>
              <a:defRPr sz="1000" b="1">
                <a:solidFill>
                  <a:srgbClr val="34A8A5"/>
                </a:solidFill>
              </a:defRPr>
            </a:pPr>
            <a:r>
              <a:rPr sz="1400" dirty="0"/>
              <a:t>Elite Agent:</a:t>
            </a:r>
          </a:p>
          <a:p>
            <a:pPr lvl="1">
              <a:spcAft>
                <a:spcPts val="400"/>
              </a:spcAft>
              <a:defRPr sz="900">
                <a:solidFill>
                  <a:srgbClr val="282828"/>
                </a:solidFill>
              </a:defRPr>
            </a:pPr>
            <a:r>
              <a:rPr sz="1400" dirty="0"/>
              <a:t>Deterministic strategies, predictable but highly effective, 100% win rate against random opponents</a:t>
            </a:r>
          </a:p>
          <a:p>
            <a:pPr>
              <a:spcAft>
                <a:spcPts val="200"/>
              </a:spcAft>
              <a:defRPr sz="1000" b="1">
                <a:solidFill>
                  <a:srgbClr val="34A8A5"/>
                </a:solidFill>
              </a:defRPr>
            </a:pPr>
            <a:r>
              <a:rPr sz="1400" dirty="0"/>
              <a:t>Experimental Agent:</a:t>
            </a:r>
          </a:p>
          <a:p>
            <a:pPr lvl="1">
              <a:spcAft>
                <a:spcPts val="400"/>
              </a:spcAft>
              <a:defRPr sz="900">
                <a:solidFill>
                  <a:srgbClr val="282828"/>
                </a:solidFill>
              </a:defRPr>
            </a:pPr>
            <a:r>
              <a:rPr sz="1400" dirty="0"/>
              <a:t>Adaptive threat assessment, demonstrates advanced tactical reasoning</a:t>
            </a:r>
          </a:p>
          <a:p>
            <a:pPr>
              <a:spcAft>
                <a:spcPts val="200"/>
              </a:spcAft>
              <a:defRPr sz="1000" b="1">
                <a:solidFill>
                  <a:srgbClr val="34A8A5"/>
                </a:solidFill>
              </a:defRPr>
            </a:pPr>
            <a:r>
              <a:rPr sz="1400" dirty="0"/>
              <a:t>RL Agent:</a:t>
            </a:r>
          </a:p>
          <a:p>
            <a:pPr lvl="1">
              <a:spcAft>
                <a:spcPts val="400"/>
              </a:spcAft>
              <a:defRPr sz="900">
                <a:solidFill>
                  <a:srgbClr val="282828"/>
                </a:solidFill>
              </a:defRPr>
            </a:pPr>
            <a:r>
              <a:rPr sz="1400" dirty="0"/>
              <a:t>Learning-based approach with continuous improvement capability</a:t>
            </a:r>
          </a:p>
          <a:p>
            <a:pPr>
              <a:spcAft>
                <a:spcPts val="200"/>
              </a:spcAft>
              <a:defRPr sz="1000" b="1">
                <a:solidFill>
                  <a:srgbClr val="34A8A5"/>
                </a:solidFill>
              </a:defRPr>
            </a:pPr>
            <a:r>
              <a:rPr sz="1400" dirty="0"/>
              <a:t>V2 Agent:</a:t>
            </a:r>
          </a:p>
          <a:p>
            <a:pPr lvl="1">
              <a:spcAft>
                <a:spcPts val="400"/>
              </a:spcAft>
              <a:defRPr sz="900">
                <a:solidFill>
                  <a:srgbClr val="282828"/>
                </a:solidFill>
              </a:defRPr>
            </a:pPr>
            <a:r>
              <a:rPr sz="1400" dirty="0"/>
              <a:t>Baseline implementation for comparative analysis and benchmarking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3600" dirty="0"/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EA3"/>
                </a:solidFill>
              </a:defRPr>
            </a:pPr>
            <a:r>
              <a:rPr sz="2000"/>
              <a:t>Game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63040"/>
            <a:ext cx="5852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OpenSpiel 1.0.9 (Kaggle Environments) - Standardized RL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228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EA3"/>
                </a:solidFill>
              </a:defRPr>
            </a:pPr>
            <a:r>
              <a:rPr sz="2000"/>
              <a:t>Deep Learning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331720"/>
            <a:ext cx="5852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PyTorch with CUDA support for GPU-accelerated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EA3"/>
                </a:solidFill>
              </a:defRPr>
            </a:pPr>
            <a:r>
              <a:rPr sz="2000"/>
              <a:t>Cloud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5852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Google Colab with Tesla GPU runtime for distributed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EA3"/>
                </a:solidFill>
              </a:defRPr>
            </a:pPr>
            <a:r>
              <a:rPr sz="2000"/>
              <a:t>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069080"/>
            <a:ext cx="5852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HTML5 rendering with real-time game state visualization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3600" dirty="0"/>
              <a:t>KEY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668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9207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Hybrid Agent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Combines classical game theory with modern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35318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Continuous Space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24327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Sophisticated collision avoidance and path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39"/>
            <a:ext cx="38061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Resource Commitment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84447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Prevents resource double-allocation in complex scenes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1411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GPU-Accelerated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64208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Scalable learning on cloud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38468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Vectorized State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24327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Fixed-size encoding for efficient neural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39"/>
            <a:ext cx="37482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✓ Production-Weighted Targeting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84447"/>
            <a:ext cx="393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82828"/>
                </a:solidFill>
              </a:defRPr>
            </a:pPr>
            <a:r>
              <a:rPr sz="2000"/>
              <a:t>Heuristic integration with strategic optimization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RESEARCH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C59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841248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Theoretical Advances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• Demonstration of hybrid classical-learning agent effectiveness</a:t>
            </a:r>
            <a:br>
              <a:rPr sz="2000" dirty="0"/>
            </a:br>
            <a:r>
              <a:rPr sz="2000" dirty="0"/>
              <a:t>• Policy gradient success in discrete-continuous action spaces</a:t>
            </a:r>
            <a:br>
              <a:rPr sz="2000" dirty="0"/>
            </a:br>
            <a:r>
              <a:rPr sz="2000" dirty="0"/>
              <a:t>• Threat-based adaptation in partially observable environments</a:t>
            </a:r>
            <a:br>
              <a:rPr sz="2000" dirty="0"/>
            </a:br>
            <a:r>
              <a:rPr sz="2000" dirty="0"/>
              <a:t>• Resource management optimization under uncertainty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840480"/>
            <a:ext cx="841248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Practical Applications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• Multi-agent coordination in autonomous systems</a:t>
            </a:r>
            <a:br>
              <a:rPr sz="2000" dirty="0"/>
            </a:br>
            <a:r>
              <a:rPr sz="2000" dirty="0"/>
              <a:t>• Strategic planning in resource-constrained scenarios</a:t>
            </a:r>
            <a:br>
              <a:rPr sz="2000" dirty="0"/>
            </a:br>
            <a:r>
              <a:rPr sz="2000" dirty="0"/>
              <a:t>• Extensible framework for hierarchical game playing</a:t>
            </a:r>
            <a:br>
              <a:rPr sz="2000" dirty="0"/>
            </a:br>
            <a:r>
              <a:rPr sz="2000" dirty="0"/>
              <a:t>• Benchmark for evaluating agent intelligence metrics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DEPLOYMENT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34A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206240" cy="47548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Local Execution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Requirements:</a:t>
            </a:r>
            <a:br>
              <a:rPr sz="2000" dirty="0"/>
            </a:br>
            <a:r>
              <a:rPr sz="2000" dirty="0"/>
              <a:t>• Python 3.8+</a:t>
            </a:r>
            <a:br>
              <a:rPr sz="2000" dirty="0"/>
            </a:br>
            <a:r>
              <a:rPr sz="2000" dirty="0"/>
              <a:t>• Anaconda or </a:t>
            </a:r>
            <a:r>
              <a:rPr sz="2000" dirty="0" err="1"/>
              <a:t>venv</a:t>
            </a:r>
            <a:br>
              <a:rPr sz="2000" dirty="0"/>
            </a:br>
            <a:r>
              <a:rPr sz="2000" dirty="0"/>
              <a:t>• 2GB+ RAM</a:t>
            </a:r>
            <a:br>
              <a:rPr sz="2000" dirty="0"/>
            </a:br>
            <a:br>
              <a:rPr sz="2000" dirty="0"/>
            </a:br>
            <a:r>
              <a:rPr sz="2000" dirty="0"/>
              <a:t>Execution:</a:t>
            </a:r>
            <a:br>
              <a:rPr sz="2000" dirty="0"/>
            </a:br>
            <a:r>
              <a:rPr sz="2000" dirty="0"/>
              <a:t>$ python main.py</a:t>
            </a:r>
            <a:br>
              <a:rPr sz="2000" dirty="0"/>
            </a:br>
            <a:r>
              <a:rPr sz="2000" dirty="0"/>
              <a:t>$ python agent_elite.py</a:t>
            </a:r>
            <a:br>
              <a:rPr sz="2000" dirty="0"/>
            </a:br>
            <a:br>
              <a:rPr sz="2000" dirty="0"/>
            </a:br>
            <a:r>
              <a:rPr sz="2000" dirty="0"/>
              <a:t>Output:</a:t>
            </a:r>
            <a:br>
              <a:rPr sz="2000" dirty="0"/>
            </a:br>
            <a:r>
              <a:rPr sz="2000" dirty="0"/>
              <a:t>• render.html visualization</a:t>
            </a:r>
            <a:br>
              <a:rPr sz="2000" dirty="0"/>
            </a:br>
            <a:r>
              <a:rPr sz="2000" dirty="0"/>
              <a:t>• Real-time game state</a:t>
            </a:r>
            <a:br>
              <a:rPr sz="2000" dirty="0"/>
            </a:br>
            <a:r>
              <a:rPr sz="2000" dirty="0"/>
              <a:t>• Performance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256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sz="2000" dirty="0"/>
              <a:t>Cloud Training (</a:t>
            </a:r>
            <a:r>
              <a:rPr sz="2000" dirty="0" err="1"/>
              <a:t>Colab</a:t>
            </a:r>
            <a:r>
              <a:rPr sz="2000"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Requirements:</a:t>
            </a:r>
            <a:br>
              <a:rPr sz="2000" dirty="0"/>
            </a:br>
            <a:r>
              <a:rPr sz="2000" dirty="0"/>
              <a:t>• Google account</a:t>
            </a:r>
            <a:br>
              <a:rPr sz="2000" dirty="0"/>
            </a:br>
            <a:r>
              <a:rPr sz="2000" dirty="0"/>
              <a:t>• GPU runtime access</a:t>
            </a:r>
            <a:br>
              <a:rPr sz="2000" dirty="0"/>
            </a:br>
            <a:br>
              <a:rPr sz="2000" dirty="0"/>
            </a:br>
            <a:r>
              <a:rPr sz="2000" dirty="0"/>
              <a:t>Workflow:</a:t>
            </a:r>
            <a:br>
              <a:rPr sz="2000" dirty="0"/>
            </a:br>
            <a:r>
              <a:rPr sz="2000" dirty="0"/>
              <a:t>1. Upload files</a:t>
            </a:r>
            <a:br>
              <a:rPr sz="2000" dirty="0"/>
            </a:br>
            <a:r>
              <a:rPr sz="2000" dirty="0"/>
              <a:t>2. Run training script</a:t>
            </a:r>
            <a:br>
              <a:rPr sz="2000" dirty="0"/>
            </a:br>
            <a:r>
              <a:rPr sz="2000" dirty="0"/>
              <a:t>3. Monitor progress</a:t>
            </a:r>
            <a:br>
              <a:rPr sz="2000" dirty="0"/>
            </a:br>
            <a:r>
              <a:rPr sz="2000" dirty="0"/>
              <a:t>4. Save to Drive</a:t>
            </a:r>
            <a:br>
              <a:rPr sz="2000" dirty="0"/>
            </a:br>
            <a:br>
              <a:rPr sz="2000" dirty="0"/>
            </a:br>
            <a:r>
              <a:rPr sz="2000" dirty="0"/>
              <a:t>Benefits:</a:t>
            </a:r>
            <a:br>
              <a:rPr sz="2000" dirty="0"/>
            </a:br>
            <a:r>
              <a:rPr sz="2000" dirty="0"/>
              <a:t>• Free GPU access</a:t>
            </a:r>
            <a:br>
              <a:rPr sz="2000" dirty="0"/>
            </a:br>
            <a:r>
              <a:rPr sz="2000" dirty="0"/>
              <a:t>• No setup required</a:t>
            </a:r>
            <a:br>
              <a:rPr sz="2000" dirty="0"/>
            </a:br>
            <a:r>
              <a:rPr sz="2000" dirty="0"/>
              <a:t>• Collaborative tools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3600" dirty="0"/>
              <a:t>DOCUMENTATION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668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2150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AGENT_GUIDE.md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63040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Comprehensive technical documentation with algorithm details and optimization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27837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PROJECT_SUMMARY.md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Complete project overview with agent comparisons and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19155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QUICKSTART.md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08960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Quick reference guide for file structure and execution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20503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colab_train.ipynb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GPU-accelerated training notebook with full PyTorch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54880"/>
            <a:ext cx="21432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A8A5"/>
                </a:solidFill>
              </a:defRPr>
            </a:pPr>
            <a:r>
              <a:rPr sz="2000"/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80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rPr sz="2000"/>
              <a:t>Full source code, version control, and collaborative development platform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C59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C59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55157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59052"/>
                </a:solidFill>
              </a:defRPr>
            </a:pPr>
            <a:r>
              <a:t>Short Term (Q3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• Extend to 4-player competitive scenarios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Implement attention mechanisms in policy network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Benchmark against state-of-the-art game-playing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C59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7471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59052"/>
                </a:solidFill>
              </a:defRPr>
            </a:pPr>
            <a:r>
              <a:t>Medium Term (Q4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• Multi-task learning across environment variants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Transfer learning for similar strategic domains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Interpretability analysis of learned strategies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9050">
            <a:solidFill>
              <a:srgbClr val="C59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59"/>
            <a:ext cx="12918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59052"/>
                </a:solidFill>
              </a:defRPr>
            </a:pPr>
            <a:r>
              <a:t>Long Term (2027)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36592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• Real-time MCTS + RL hybrid search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Distributed multi-agent learning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• Publication in peer-reviewed AI venues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56EA3"/>
              </a:gs>
              <a:gs pos="100000">
                <a:srgbClr val="1F2D3D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800" b="1">
                <a:solidFill>
                  <a:srgbClr val="256EA3"/>
                </a:solidFill>
              </a:defRPr>
            </a:pPr>
            <a:r>
              <a:rPr sz="2000" dirty="0"/>
              <a:t>Key Takeaways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rPr sz="2000" dirty="0"/>
              <a:t>→ Hybrid approaches combining classical and modern techniques achieve superior performance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rPr sz="2000" dirty="0"/>
              <a:t>→ Deep reinforcement learning enables continuous improvement and adaptation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rPr sz="2000" dirty="0"/>
              <a:t>→ Open-source tools democratize advanced AI research and development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rPr sz="2000" dirty="0"/>
              <a:t>→ Strategic games provide excellent testbeds for autonomous agent evaluation</a:t>
            </a:r>
          </a:p>
          <a:p>
            <a:br>
              <a:rPr dirty="0"/>
            </a:br>
            <a:r>
              <a:rPr dirty="0"/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1032</Words>
  <Application>Microsoft Office PowerPoint</Application>
  <PresentationFormat>On-screen Show (4:3)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Canva Sans Bold</vt:lpstr>
      <vt:lpstr>Office Theme</vt:lpstr>
      <vt:lpstr>"In the name of ALLAH, the Most Gracious, the Most Merciful,"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Hamid Javaid</cp:lastModifiedBy>
  <cp:revision>4</cp:revision>
  <dcterms:created xsi:type="dcterms:W3CDTF">2013-01-27T09:14:16Z</dcterms:created>
  <dcterms:modified xsi:type="dcterms:W3CDTF">2026-06-05T07:16:02Z</dcterms:modified>
  <cp:category/>
</cp:coreProperties>
</file>